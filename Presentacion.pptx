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title>
      <c:tx>
        <c:rich>
          <a:bodyPr/>
          <a:lstStyle/>
          <a:p>
            <a:r>
              <a:rPr lang="es-ES" sz="1650">
                <a:solidFill>
                  <a:srgbClr val="08284F"/>
                </a:solidFill>
                <a:latin typeface="Arial"/>
                <a:ea typeface="Arial"/>
                <a:cs typeface="Arial"/>
              </a:rPr>
              <a:t>Acceso declarado en La Paz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Porcentaje de viviendas</c:v>
          </c:tx>
          <c:spPr>
            <a:solidFill>
              <a:srgbClr val="175CD4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0B3668"/>
              </a:solidFill>
            </c:spPr>
            <c:extLst>
              <c:ext xmlns:c16="http://schemas.microsoft.com/office/drawing/2014/chart" uri="{C3380CC4-5D6E-409C-BE32-E72D297353CC}">
                <c16:uniqueId val="{00000001-C707-4360-BBFC-CCCDB586E19E}"/>
              </c:ext>
            </c:extLst>
          </c:dPt>
          <c:dPt>
            <c:idx val="1"/>
            <c:invertIfNegative val="0"/>
            <c:bubble3D val="0"/>
            <c:spPr>
              <a:solidFill>
                <a:srgbClr val="407879"/>
              </a:solidFill>
            </c:spPr>
            <c:extLst>
              <c:ext xmlns:c16="http://schemas.microsoft.com/office/drawing/2014/chart" uri="{C3380CC4-5D6E-409C-BE32-E72D297353CC}">
                <c16:uniqueId val="{00000003-C707-4360-BBFC-CCCDB586E19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707-4360-BBFC-CCCDB586E19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08284F"/>
                    </a:solidFill>
                    <a:latin typeface="Arial"/>
                    <a:ea typeface="Arial"/>
                    <a:cs typeface="Arial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Internet fijo</c:v>
                </c:pt>
                <c:pt idx="1">
                  <c:v>Internet móvil</c:v>
                </c:pt>
                <c:pt idx="2">
                  <c:v>Fijo o móvil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0.3392</c:v>
                </c:pt>
                <c:pt idx="1">
                  <c:v>0.62549999999999994</c:v>
                </c:pt>
                <c:pt idx="2">
                  <c:v>0.69950000000000001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C707-4360-BBFC-CCCDB586E1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08284F"/>
                </a:solidFill>
                <a:latin typeface="Arial"/>
                <a:ea typeface="Arial"/>
                <a:cs typeface="Arial"/>
              </a:defRPr>
            </a:pPr>
            <a:endParaRPr lang="es-MX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8E2EC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endParaRPr lang="es-MX"/>
          </a:p>
        </c:txPr>
        <c:crossAx val="48650112"/>
        <c:crosses val="autoZero"/>
        <c:crossBetween val="between"/>
        <c:majorUnit val="0.2"/>
      </c:valAx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title>
      <c:tx>
        <c:rich>
          <a:bodyPr/>
          <a:lstStyle/>
          <a:p>
            <a:r>
              <a:rPr lang="es-ES" sz="1575">
                <a:solidFill>
                  <a:srgbClr val="08284F"/>
                </a:solidFill>
                <a:latin typeface="Arial"/>
                <a:ea typeface="Arial"/>
                <a:cs typeface="Arial"/>
              </a:rPr>
              <a:t>Acceso por área de residencia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Fijo</c:v>
          </c:tx>
          <c:spPr>
            <a:solidFill>
              <a:srgbClr val="0B366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08284F"/>
                    </a:solidFill>
                    <a:latin typeface="Arial"/>
                    <a:ea typeface="Arial"/>
                    <a:cs typeface="Arial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Urbana</c:v>
                </c:pt>
                <c:pt idx="1">
                  <c:v>Rural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0.53069999999999995</c:v>
                </c:pt>
                <c:pt idx="1">
                  <c:v>2.52E-2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23E-4921-8D8F-3D9C74D9DDD5}"/>
            </c:ext>
          </c:extLst>
        </c:ser>
        <c:ser>
          <c:idx val="1"/>
          <c:order val="1"/>
          <c:tx>
            <c:v>Móvil</c:v>
          </c:tx>
          <c:spPr>
            <a:solidFill>
              <a:srgbClr val="40787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08284F"/>
                    </a:solidFill>
                    <a:latin typeface="Arial"/>
                    <a:ea typeface="Arial"/>
                    <a:cs typeface="Arial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Urbana</c:v>
                </c:pt>
                <c:pt idx="1">
                  <c:v>Rural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0.72609999999999997</c:v>
                </c:pt>
                <c:pt idx="1">
                  <c:v>0.46060000000000001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223E-4921-8D8F-3D9C74D9DDD5}"/>
            </c:ext>
          </c:extLst>
        </c:ser>
        <c:ser>
          <c:idx val="2"/>
          <c:order val="2"/>
          <c:tx>
            <c:v>Fijo o móvil</c:v>
          </c:tx>
          <c:spPr>
            <a:solidFill>
              <a:srgbClr val="175CD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08284F"/>
                    </a:solidFill>
                    <a:latin typeface="Arial"/>
                    <a:ea typeface="Arial"/>
                    <a:cs typeface="Arial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Data'!$E$2:$E$3</c:f>
              <c:strCache>
                <c:ptCount val="2"/>
                <c:pt idx="0">
                  <c:v>Urbana</c:v>
                </c:pt>
                <c:pt idx="1">
                  <c:v>Rural</c:v>
                </c:pt>
              </c:strCache>
            </c:strRef>
          </c:cat>
          <c:val>
            <c:numRef>
              <c:f>'Chart Data'!$F$2:$F$3</c:f>
              <c:numCache>
                <c:formatCode>0.0%</c:formatCode>
                <c:ptCount val="2"/>
                <c:pt idx="0">
                  <c:v>0.8407</c:v>
                </c:pt>
                <c:pt idx="1">
                  <c:v>0.46820000000000001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223E-4921-8D8F-3D9C74D9DDD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08284F"/>
                </a:solidFill>
                <a:latin typeface="Arial"/>
                <a:ea typeface="Arial"/>
                <a:cs typeface="Arial"/>
              </a:defRPr>
            </a:pPr>
            <a:endParaRPr lang="es-MX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8E2EC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endParaRPr lang="es-MX"/>
          </a:p>
        </c:txPr>
        <c:crossAx val="48650112"/>
        <c:crosses val="autoZero"/>
        <c:crossBetween val="between"/>
        <c:majorUnit val="0.2"/>
      </c:valAx>
    </c:plotArea>
    <c:legend>
      <c:legendPos val="b"/>
      <c:overlay val="0"/>
      <c:txPr>
        <a:bodyPr anchorCtr="1"/>
        <a:lstStyle/>
        <a:p>
          <a:pPr>
            <a:defRPr sz="975">
              <a:solidFill>
                <a:srgbClr val="08284F"/>
              </a:solidFill>
              <a:latin typeface="Arial"/>
              <a:ea typeface="Arial"/>
              <a:cs typeface="Arial"/>
            </a:defRPr>
          </a:pPr>
          <a:endParaRPr lang="es-MX"/>
        </a:p>
      </c:txPr>
    </c:legend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EXPOSITOR 1 (aprox. 75 segundos)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Nuestro proyecto estudia el acceso declarado a Internet fijo y móvil en las viviendas del departamento de La Paz, usando datos del Censo 2024. El problema social es la desigualdad de conectividad. El análisis puede ayudar a identificar áreas donde conviene priorizar infraestructura, programas de acceso o estudios posteriores.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 métrica principal es la tasa de viviendas con Internet fijo o móvil. Se calcula dividiendo 748.401 viviendas con código V19E_F igual a 1 entre 1.069.838 viviendas del universo válido y multiplicando por cien. El resultado es 69,95 %.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Por modalidad, el Internet móvil alcanza 62,55 % y el fijo 33,92 %. El móvil supera al fijo en 28,64 puntos porcentuales. La métrica mide acceso declarado por vivienda. No mide velocidad, calidad del servicio ni uso individual.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 de cifras: Resumen_Internet_LaPaz_Censo2024 (1).xlsx, hojas Resumen_LaPaz y Diccionario.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EXPOSITOR 2 (aprox. 90 segundos)</a:t>
            </a:r>
          </a:p>
          <a:p>
            <a:endParaRPr/>
          </a:p>
          <a:p>
            <a:r>
              <a:t>La fuente contiene 1.334.496 registros de vivienda de La Paz. El universo aplicable tiene 1.069.838 viviendas. Las variables centrales son Internet fijo, Internet móvil, el indicador combinado y el área urbana o rural.</a:t>
            </a:r>
          </a:p>
          <a:p>
            <a:endParaRPr/>
          </a:p>
          <a:p>
            <a:r>
              <a:t>Encontramos 264.658 campos vacíos porque el cuestionario no aplicaba a esas viviendas. Los excluimos del denominador en lugar de convertirlos en No. Dentro del universo, 30.497 respuestas quedaron sin especificar y no se imputaron. El proyecto también comprobó duplicados e inconsistencias de catálogo.</a:t>
            </a:r>
          </a:p>
          <a:p>
            <a:endParaRPr/>
          </a:p>
          <a:p>
            <a:r>
              <a:t>La distribución de acceso entre 87 municipios tiene una mediana de 48,23 %. El rango intercuartílico va de 40,91 % a 56,28 %. La regla de Tukey identificó 2 municipios de acceso alto. Se conservaron porque representan situaciones territoriales válidas.</a:t>
            </a:r>
          </a:p>
          <a:p>
            <a:endParaRPr/>
          </a:p>
          <a:p>
            <a:r>
              <a:t>La relación más importante aparece entre área de residencia y conectividad. Algún Internet alcanza 84,07 % en el área urbana y 46,82 % en la rural. La diferencia es 37,25 puntos porcentuales. Además, 49,1 % de las viviendas rurales declara no tener ninguna modalidad. Este resultado muestra una asociación territorial. No demuestra que vivir en un área rural cause por sí solo la falta de acceso.</a:t>
            </a:r>
          </a:p>
          <a:p>
            <a:endParaRPr/>
          </a:p>
          <a:p>
            <a:r>
              <a:t>Fuente de cifras: Resumen_Internet_LaPaz_Censo2024 (1).xlsx, hojas Urbano_Rural y Municipios.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 sz="11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 sz="11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 sz="11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4826000"/>
            <a:ext cx="2595934" cy="1168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 sz="11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4826000"/>
            <a:ext cx="2595934" cy="1168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 sz="11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 sz="11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 Field Grid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 Field Grid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5549230" cy="697392"/>
          </a:xfrm>
          <a:prstGeom prst="rect">
            <a:avLst/>
          </a:prstGeom>
        </p:spPr>
        <p:txBody>
          <a:bodyPr spcFirstLastPara="1" vert="horz" wrap="square" lIns="19050" tIns="19050" rIns="19050" bIns="19050" anchor="t">
            <a:normAutofit/>
          </a:bodyPr>
          <a:lstStyle/>
          <a:p>
            <a:pPr>
              <a:defRPr sz="2550" b="0">
                <a:solidFill>
                  <a:srgbClr val="08284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8284F"/>
                </a:solidFill>
                <a:latin typeface="Arial"/>
                <a:ea typeface="Arial"/>
                <a:cs typeface="Arial"/>
              </a:rPr>
              <a:t>Objetivo y métrica principal</a:t>
            </a:r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0871A73-A37A-1E7C-6089-9D4D7E091093}"/>
              </a:ext>
            </a:extLst>
          </p:cNvPr>
          <p:cNvSpPr>
            <a:spLocks noGrp="1"/>
          </p:cNvSpPr>
          <p:nvPr/>
        </p:nvSpPr>
        <p:spPr>
          <a:xfrm>
            <a:off x="6264412" y="2369856"/>
            <a:ext cx="5533887" cy="16383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1C7B8C8B-F20A-31B8-CB9E-D406AEA7CEF5}"/>
              </a:ext>
            </a:extLst>
          </p:cNvPr>
          <p:cNvSpPr>
            <a:spLocks noGrp="1"/>
          </p:cNvSpPr>
          <p:nvPr/>
        </p:nvSpPr>
        <p:spPr>
          <a:xfrm>
            <a:off x="6561647" y="2664788"/>
            <a:ext cx="4986886" cy="1048436"/>
          </a:xfrm>
          <a:prstGeom prst="rect">
            <a:avLst/>
          </a:prstGeom>
        </p:spPr>
        <p:txBody>
          <a:bodyPr vert="horz" wrap="square" lIns="76200" tIns="76200" rIns="76200" bIns="7620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defRPr sz="1500">
                <a:solidFill>
                  <a:srgbClr val="0828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84F"/>
                </a:solidFill>
                <a:latin typeface="Arial"/>
                <a:ea typeface="Arial"/>
                <a:cs typeface="Arial"/>
              </a:rPr>
              <a:t>Métrica</a:t>
            </a:r>
          </a:p>
          <a:p>
            <a:pPr algn="l">
              <a:defRPr sz="1500">
                <a:solidFill>
                  <a:srgbClr val="08284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8284F"/>
                </a:solidFill>
                <a:latin typeface="Arial"/>
                <a:ea typeface="Arial"/>
                <a:cs typeface="Arial"/>
              </a:rPr>
              <a:t>Tasa de acceso = viviendas con V19E_F = 1 ÷ universo TIC × 100.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06E7539-B6D2-84FE-7719-21D73815654C}"/>
              </a:ext>
            </a:extLst>
          </p:cNvPr>
          <p:cNvSpPr>
            <a:spLocks noGrp="1"/>
          </p:cNvSpPr>
          <p:nvPr/>
        </p:nvSpPr>
        <p:spPr>
          <a:xfrm>
            <a:off x="6264413" y="393700"/>
            <a:ext cx="5533887" cy="16383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0BFF6E-013F-2CA5-21F9-98283DFCB4AE}"/>
              </a:ext>
            </a:extLst>
          </p:cNvPr>
          <p:cNvSpPr>
            <a:spLocks noGrp="1"/>
          </p:cNvSpPr>
          <p:nvPr/>
        </p:nvSpPr>
        <p:spPr>
          <a:xfrm>
            <a:off x="6561648" y="688632"/>
            <a:ext cx="4986886" cy="1048436"/>
          </a:xfrm>
          <a:prstGeom prst="rect">
            <a:avLst/>
          </a:prstGeom>
        </p:spPr>
        <p:txBody>
          <a:bodyPr vert="horz" wrap="square" lIns="76200" tIns="76200" rIns="76200" bIns="7620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defRPr sz="1500">
                <a:solidFill>
                  <a:srgbClr val="0828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84F"/>
                </a:solidFill>
                <a:latin typeface="Arial"/>
                <a:ea typeface="Arial"/>
                <a:cs typeface="Arial"/>
              </a:rPr>
              <a:t>Objetivo social</a:t>
            </a:r>
          </a:p>
          <a:p>
            <a:pPr algn="l">
              <a:defRPr sz="1500">
                <a:solidFill>
                  <a:srgbClr val="08284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8284F"/>
                </a:solidFill>
                <a:latin typeface="Arial"/>
                <a:ea typeface="Arial"/>
                <a:cs typeface="Arial"/>
              </a:rPr>
              <a:t>Medir el acceso a Internet fijo y móvil y localizar brechas que orienten prioridades de conectividad.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4E18E5B-6405-1268-D0C6-02B9E1F83EA8}"/>
              </a:ext>
            </a:extLst>
          </p:cNvPr>
          <p:cNvSpPr>
            <a:spLocks noGrp="1"/>
          </p:cNvSpPr>
          <p:nvPr/>
        </p:nvSpPr>
        <p:spPr>
          <a:xfrm>
            <a:off x="6264412" y="4381536"/>
            <a:ext cx="5533887" cy="16383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CF7239E1-4EF6-5723-3651-1149031AE671}"/>
              </a:ext>
            </a:extLst>
          </p:cNvPr>
          <p:cNvSpPr>
            <a:spLocks noGrp="1"/>
          </p:cNvSpPr>
          <p:nvPr/>
        </p:nvSpPr>
        <p:spPr>
          <a:xfrm>
            <a:off x="6561647" y="4676468"/>
            <a:ext cx="4986886" cy="1048436"/>
          </a:xfrm>
          <a:prstGeom prst="rect">
            <a:avLst/>
          </a:prstGeom>
        </p:spPr>
        <p:txBody>
          <a:bodyPr vert="horz" wrap="square" lIns="76200" tIns="76200" rIns="76200" bIns="7620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defRPr sz="1500">
                <a:solidFill>
                  <a:srgbClr val="0828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84F"/>
                </a:solidFill>
                <a:latin typeface="Arial"/>
                <a:ea typeface="Arial"/>
                <a:cs typeface="Arial"/>
              </a:rPr>
              <a:t>Resultado 2024</a:t>
            </a:r>
          </a:p>
          <a:p>
            <a:pPr algn="l">
              <a:defRPr sz="1500">
                <a:solidFill>
                  <a:srgbClr val="08284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8284F"/>
                </a:solidFill>
                <a:latin typeface="Arial"/>
                <a:ea typeface="Arial"/>
                <a:cs typeface="Arial"/>
              </a:rPr>
              <a:t>748.401 ÷ 1.069.838 = 69,95 %. Unidad: porcentaje de viviendas.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endParaRPr sz="11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58DFF-75F8-2885-5AD9-7156F19CF35C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8574A810-7A8E-054F-9F6B-09E9C694ECF9}" type="slidenum">
              <a:rPr>
                <a:latin typeface="Arial"/>
                <a:ea typeface="Arial"/>
                <a:cs typeface="Arial"/>
              </a:rPr>
              <a:t>1</a:t>
            </a:fld>
            <a:endParaRPr sz="1100"/>
          </a:p>
        </p:txBody>
      </p:sp>
      <p:graphicFrame>
        <p:nvGraphicFramePr>
          <p:cNvPr id="544" name="Chart"/>
          <p:cNvGraphicFramePr/>
          <p:nvPr/>
        </p:nvGraphicFramePr>
        <p:xfrm>
          <a:off x="409575" y="1066800"/>
          <a:ext cx="5124450" cy="5429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DFBC6A92-85DD-4998-BEBC-DF3A54D8CF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012"/>
          <a:stretch/>
        </p:blipFill>
        <p:spPr>
          <a:xfrm>
            <a:off x="1" y="0"/>
            <a:ext cx="11963400" cy="6577497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C7DCCE94-4666-49B9-B761-708B84F300C2}"/>
              </a:ext>
            </a:extLst>
          </p:cNvPr>
          <p:cNvSpPr/>
          <p:nvPr/>
        </p:nvSpPr>
        <p:spPr>
          <a:xfrm>
            <a:off x="7143750" y="6191250"/>
            <a:ext cx="5048250" cy="5576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5975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13FBFDF-16BF-0D53-2A1B-04B010762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9"/>
            <a:ext cx="11404600" cy="616178"/>
          </a:xfrm>
        </p:spPr>
        <p:txBody>
          <a:bodyPr wrap="square" lIns="19050" tIns="19050" rIns="19050" bIns="19050">
            <a:normAutofit/>
          </a:bodyPr>
          <a:lstStyle/>
          <a:p>
            <a:pPr>
              <a:defRPr sz="2550" b="0">
                <a:solidFill>
                  <a:srgbClr val="08284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8284F"/>
                </a:solidFill>
                <a:latin typeface="Arial"/>
                <a:ea typeface="Arial"/>
                <a:cs typeface="Arial"/>
              </a:rPr>
              <a:t>Datos y análisis exploratorio</a:t>
            </a:r>
          </a:p>
        </p:txBody>
      </p:sp>
      <p:sp>
        <p:nvSpPr>
          <p:cNvPr id="38" name="Content Placeholder 9">
            <a:extLst>
              <a:ext uri="{FF2B5EF4-FFF2-40B4-BE49-F238E27FC236}">
                <a16:creationId xmlns:a16="http://schemas.microsoft.com/office/drawing/2014/main" id="{9AE798CC-FC9E-8FD6-B40A-60BD9A43B147}"/>
              </a:ext>
            </a:extLst>
          </p:cNvPr>
          <p:cNvSpPr>
            <a:spLocks noGrp="1"/>
          </p:cNvSpPr>
          <p:nvPr/>
        </p:nvSpPr>
        <p:spPr>
          <a:xfrm>
            <a:off x="6366176" y="4072340"/>
            <a:ext cx="2133315" cy="903750"/>
          </a:xfrm>
          <a:prstGeom prst="rect">
            <a:avLst/>
          </a:prstGeom>
        </p:spPr>
        <p:txBody>
          <a:bodyPr vert="horz" wrap="square" lIns="76200" tIns="76200" rIns="76200" bIns="7620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defRPr sz="3150">
                <a:solidFill>
                  <a:srgbClr val="08284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284F"/>
                </a:solidFill>
                <a:latin typeface="Arial"/>
                <a:ea typeface="Arial"/>
                <a:cs typeface="Arial"/>
              </a:rPr>
              <a:t>37,25 pp</a:t>
            </a:r>
          </a:p>
        </p:txBody>
      </p:sp>
      <p:sp>
        <p:nvSpPr>
          <p:cNvPr id="39" name="Content Placeholder 15">
            <a:extLst>
              <a:ext uri="{FF2B5EF4-FFF2-40B4-BE49-F238E27FC236}">
                <a16:creationId xmlns:a16="http://schemas.microsoft.com/office/drawing/2014/main" id="{ECB39FDF-C879-3F75-4B5B-F3AB960C39D0}"/>
              </a:ext>
            </a:extLst>
          </p:cNvPr>
          <p:cNvSpPr>
            <a:spLocks noGrp="1"/>
          </p:cNvSpPr>
          <p:nvPr/>
        </p:nvSpPr>
        <p:spPr>
          <a:xfrm>
            <a:off x="6432794" y="5068235"/>
            <a:ext cx="2066698" cy="615950"/>
          </a:xfrm>
          <a:prstGeom prst="rect">
            <a:avLst/>
          </a:prstGeom>
        </p:spPr>
        <p:txBody>
          <a:bodyPr vert="horz" wrap="square" lIns="76200" tIns="76200" rIns="76200" bIns="76200" anchor="t">
            <a:normAutofit fontScale="92500" lnSpcReduction="1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defRPr sz="1425">
                <a:solidFill>
                  <a:srgbClr val="08284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8284F"/>
                </a:solidFill>
                <a:latin typeface="Arial"/>
                <a:ea typeface="Arial"/>
                <a:cs typeface="Arial"/>
              </a:rPr>
              <a:t>Brecha urbana-rural
en algún Internet</a:t>
            </a:r>
          </a:p>
        </p:txBody>
      </p:sp>
      <p:sp>
        <p:nvSpPr>
          <p:cNvPr id="41" name="Content Placeholder 9">
            <a:extLst>
              <a:ext uri="{FF2B5EF4-FFF2-40B4-BE49-F238E27FC236}">
                <a16:creationId xmlns:a16="http://schemas.microsoft.com/office/drawing/2014/main" id="{838DC2B0-2494-42A8-504F-21F6B5C20B58}"/>
              </a:ext>
            </a:extLst>
          </p:cNvPr>
          <p:cNvSpPr>
            <a:spLocks noGrp="1"/>
          </p:cNvSpPr>
          <p:nvPr/>
        </p:nvSpPr>
        <p:spPr>
          <a:xfrm>
            <a:off x="9318381" y="4072340"/>
            <a:ext cx="2133315" cy="903750"/>
          </a:xfrm>
          <a:prstGeom prst="rect">
            <a:avLst/>
          </a:prstGeom>
        </p:spPr>
        <p:txBody>
          <a:bodyPr vert="horz" wrap="square" lIns="76200" tIns="76200" rIns="76200" bIns="7620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defRPr sz="3150">
                <a:solidFill>
                  <a:srgbClr val="08284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284F"/>
                </a:solidFill>
                <a:latin typeface="Arial"/>
                <a:ea typeface="Arial"/>
                <a:cs typeface="Arial"/>
              </a:rPr>
              <a:t>49,1 %</a:t>
            </a:r>
          </a:p>
        </p:txBody>
      </p:sp>
      <p:sp>
        <p:nvSpPr>
          <p:cNvPr id="42" name="Content Placeholder 15">
            <a:extLst>
              <a:ext uri="{FF2B5EF4-FFF2-40B4-BE49-F238E27FC236}">
                <a16:creationId xmlns:a16="http://schemas.microsoft.com/office/drawing/2014/main" id="{2C5D82D2-ECA3-145C-27B1-5F3350F999DD}"/>
              </a:ext>
            </a:extLst>
          </p:cNvPr>
          <p:cNvSpPr>
            <a:spLocks noGrp="1"/>
          </p:cNvSpPr>
          <p:nvPr/>
        </p:nvSpPr>
        <p:spPr>
          <a:xfrm>
            <a:off x="9384999" y="5068235"/>
            <a:ext cx="2066698" cy="615950"/>
          </a:xfrm>
          <a:prstGeom prst="rect">
            <a:avLst/>
          </a:prstGeom>
        </p:spPr>
        <p:txBody>
          <a:bodyPr vert="horz" wrap="square" lIns="76200" tIns="76200" rIns="76200" bIns="76200" anchor="t">
            <a:normAutofit fontScale="92500" lnSpcReduction="1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defRPr sz="1425">
                <a:solidFill>
                  <a:srgbClr val="08284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8284F"/>
                </a:solidFill>
                <a:latin typeface="Arial"/>
                <a:ea typeface="Arial"/>
                <a:cs typeface="Arial"/>
              </a:rPr>
              <a:t>Viviendas rurales
sin Internet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A1700D6-925B-7147-7F15-10B86FF7D15A}"/>
              </a:ext>
            </a:extLst>
          </p:cNvPr>
          <p:cNvSpPr>
            <a:spLocks noGrp="1"/>
          </p:cNvSpPr>
          <p:nvPr/>
        </p:nvSpPr>
        <p:spPr>
          <a:xfrm>
            <a:off x="393700" y="1041400"/>
            <a:ext cx="5526315" cy="5435072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A94CC6B8-25E6-8162-65F2-80B98D5796D8}"/>
              </a:ext>
            </a:extLst>
          </p:cNvPr>
          <p:cNvSpPr>
            <a:spLocks noGrp="1"/>
          </p:cNvSpPr>
          <p:nvPr/>
        </p:nvSpPr>
        <p:spPr>
          <a:xfrm>
            <a:off x="6286500" y="1066800"/>
            <a:ext cx="5257800" cy="2333625"/>
          </a:xfrm>
          <a:prstGeom prst="rect">
            <a:avLst/>
          </a:prstGeom>
        </p:spPr>
        <p:txBody>
          <a:bodyPr wrap="square" lIns="38100" tIns="38100" rIns="38100" bIns="3810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defRPr sz="1350">
                <a:solidFill>
                  <a:srgbClr val="0828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84F"/>
                </a:solidFill>
                <a:latin typeface="Arial"/>
                <a:ea typeface="Arial"/>
                <a:cs typeface="Arial"/>
              </a:rPr>
              <a:t>Datos. </a:t>
            </a:r>
            <a:r>
              <a:rPr sz="1350">
                <a:solidFill>
                  <a:srgbClr val="08284F"/>
                </a:solidFill>
                <a:latin typeface="Arial"/>
                <a:ea typeface="Arial"/>
                <a:cs typeface="Arial"/>
              </a:rPr>
              <a:t>1.334.496 registros de La Paz. Se analizaron 1.069.838 viviendas y 16 variables seleccionadas.</a:t>
            </a:r>
          </a:p>
          <a:p>
            <a:pPr algn="l">
              <a:defRPr sz="1350">
                <a:solidFill>
                  <a:srgbClr val="0828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84F"/>
                </a:solidFill>
                <a:latin typeface="Arial"/>
                <a:ea typeface="Arial"/>
                <a:cs typeface="Arial"/>
              </a:rPr>
              <a:t>Calidad. </a:t>
            </a:r>
            <a:r>
              <a:rPr sz="1350">
                <a:solidFill>
                  <a:srgbClr val="08284F"/>
                </a:solidFill>
                <a:latin typeface="Arial"/>
                <a:ea typeface="Arial"/>
                <a:cs typeface="Arial"/>
              </a:rPr>
              <a:t>264.658 vacíos corresponden a saltos fuera del universo. Dentro quedaron 30.497 respuestas sin especificar. No se imputaron.</a:t>
            </a:r>
          </a:p>
          <a:p>
            <a:pPr algn="l">
              <a:defRPr sz="1350">
                <a:solidFill>
                  <a:srgbClr val="0828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84F"/>
                </a:solidFill>
                <a:latin typeface="Arial"/>
                <a:ea typeface="Arial"/>
                <a:cs typeface="Arial"/>
              </a:rPr>
              <a:t>Distribución. </a:t>
            </a:r>
            <a:r>
              <a:rPr sz="1350">
                <a:solidFill>
                  <a:srgbClr val="08284F"/>
                </a:solidFill>
                <a:latin typeface="Arial"/>
                <a:ea typeface="Arial"/>
                <a:cs typeface="Arial"/>
              </a:rPr>
              <a:t>87 municipios. Mediana 48,23 % e IQR 40,91 %–56,28 %.</a:t>
            </a:r>
          </a:p>
          <a:p>
            <a:pPr algn="l">
              <a:defRPr sz="1350">
                <a:solidFill>
                  <a:srgbClr val="0828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84F"/>
                </a:solidFill>
                <a:latin typeface="Arial"/>
                <a:ea typeface="Arial"/>
                <a:cs typeface="Arial"/>
              </a:rPr>
              <a:t>Atípicos. </a:t>
            </a:r>
            <a:r>
              <a:rPr sz="1350">
                <a:solidFill>
                  <a:srgbClr val="08284F"/>
                </a:solidFill>
                <a:latin typeface="Arial"/>
                <a:ea typeface="Arial"/>
                <a:cs typeface="Arial"/>
              </a:rPr>
              <a:t>Tukey detectó 2 municipios de tasa alta. Son casos válidos, no errores.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E872BE-BC27-5A5B-4EE0-6DC41C826A39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8574A810-7A8E-054F-9F6B-09E9C694ECF9}" type="slidenum">
              <a:rPr>
                <a:latin typeface="Arial"/>
                <a:ea typeface="Arial"/>
                <a:cs typeface="Arial"/>
              </a:rPr>
              <a:t>2</a:t>
            </a:fld>
            <a:endParaRPr sz="1100"/>
          </a:p>
        </p:txBody>
      </p:sp>
      <p:graphicFrame>
        <p:nvGraphicFramePr>
          <p:cNvPr id="53" name="Chart"/>
          <p:cNvGraphicFramePr/>
          <p:nvPr/>
        </p:nvGraphicFramePr>
        <p:xfrm>
          <a:off x="638175" y="1276350"/>
          <a:ext cx="5057775" cy="5019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3184246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552</Words>
  <Application>Microsoft Office PowerPoint</Application>
  <DocSecurity>0</DocSecurity>
  <PresentationFormat>Panorámica</PresentationFormat>
  <Paragraphs>40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Helvetica Neue</vt:lpstr>
      <vt:lpstr>Default Codex Theme</vt:lpstr>
      <vt:lpstr>Objetivo y métrica principal</vt:lpstr>
      <vt:lpstr>Datos y análisis exploratorio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acer</cp:lastModifiedBy>
  <cp:revision>3</cp:revision>
  <dcterms:created xsi:type="dcterms:W3CDTF">2026-09-11T23:46:18Z</dcterms:created>
  <dcterms:modified xsi:type="dcterms:W3CDTF">2026-09-12T00:00:16Z</dcterms:modified>
</cp:coreProperties>
</file>